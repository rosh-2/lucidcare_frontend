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282" r:id="rId3"/>
    <p:sldId id="268" r:id="rId4"/>
    <p:sldId id="283" r:id="rId5"/>
    <p:sldId id="311" r:id="rId6"/>
    <p:sldId id="302" r:id="rId7"/>
    <p:sldId id="303" r:id="rId8"/>
    <p:sldId id="284" r:id="rId9"/>
    <p:sldId id="285" r:id="rId10"/>
    <p:sldId id="286" r:id="rId11"/>
    <p:sldId id="287" r:id="rId12"/>
    <p:sldId id="291" r:id="rId13"/>
    <p:sldId id="290" r:id="rId14"/>
    <p:sldId id="310" r:id="rId15"/>
    <p:sldId id="312" r:id="rId16"/>
    <p:sldId id="313" r:id="rId17"/>
    <p:sldId id="289" r:id="rId18"/>
    <p:sldId id="326" r:id="rId19"/>
    <p:sldId id="330" r:id="rId20"/>
    <p:sldId id="329" r:id="rId21"/>
    <p:sldId id="309" r:id="rId22"/>
    <p:sldId id="292" r:id="rId23"/>
    <p:sldId id="294" r:id="rId24"/>
    <p:sldId id="320" r:id="rId25"/>
    <p:sldId id="296" r:id="rId26"/>
    <p:sldId id="297" r:id="rId27"/>
    <p:sldId id="293" r:id="rId28"/>
    <p:sldId id="324" r:id="rId29"/>
    <p:sldId id="321" r:id="rId30"/>
    <p:sldId id="318" r:id="rId31"/>
    <p:sldId id="319" r:id="rId32"/>
    <p:sldId id="328" r:id="rId33"/>
    <p:sldId id="331" r:id="rId34"/>
    <p:sldId id="315" r:id="rId35"/>
    <p:sldId id="298" r:id="rId36"/>
    <p:sldId id="299" r:id="rId37"/>
    <p:sldId id="300" r:id="rId38"/>
    <p:sldId id="301" r:id="rId39"/>
    <p:sldId id="31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5B61"/>
    <a:srgbClr val="F8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4" autoAdjust="0"/>
    <p:restoredTop sz="94660"/>
  </p:normalViewPr>
  <p:slideViewPr>
    <p:cSldViewPr snapToGrid="0">
      <p:cViewPr>
        <p:scale>
          <a:sx n="75" d="100"/>
          <a:sy n="75" d="100"/>
        </p:scale>
        <p:origin x="1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043AA-D3D9-47C7-B301-313E35845CA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6E931-BE1B-421E-ABA9-506577D1E5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5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2CE50F0-FD25-0EE3-C493-AFFB20C4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DA2FD270-AB41-B918-3CF6-C8BEE496C1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E37B3DE8-A450-7ECE-EF77-92877A2A14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36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CE58707-CC42-1465-476A-81CAEB60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A43BBFAF-30B4-CD17-82B4-E80E9D7A9F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2FAB7E07-83F3-7C0A-481E-9DD023DF7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0678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CA5DB54-A0F4-1641-3936-27E5C8372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B9EE7A1F-0FE2-93E0-F662-942E185C40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575EFC02-78DA-EA8A-AF56-F3166B15EE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9287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AD85461-5988-C175-E6A2-40C0B621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1119841E-6A08-2DE1-5E92-A1A82E36B9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E2ABD6C1-0F5D-3CBB-E3E7-4F75F2C366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289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B664C32-B6AA-9FB6-867A-979360DC0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D6354994-0AC8-92BB-881B-4C8A5303DC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3856336A-51C9-7279-DFD9-4094E6221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9429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9F789CC-89AE-E465-5F8F-71E06D37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548157BD-36CF-FF1A-FB43-21AC3BF934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1F75DD59-722B-4661-7E4A-2B1E2A014E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0578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90F7823-A208-0EF0-E001-DFD0123AB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8A4C8BE5-0FDE-2133-D613-1E3BABF6A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646A6F0C-4A63-B729-7B90-BB024950ED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0491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EA10CD42-6576-3654-BD8B-F48B45F25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CA5B85D0-336F-9B45-A877-3C5A2361EA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6B1492DF-EC4B-6392-3144-A5C96C632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7276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9B07075-91B3-9281-4D21-A00DD123A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3FF275C8-AC08-6867-9D91-6ED7381AD9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5AECC54E-828F-D540-C06F-B474B1B5EB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5659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EE83770-FAD2-E10A-E1D5-8E1AE341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E705C909-2A8B-1F37-C505-DC4B7F82A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BC4E1B4A-197E-FF8B-0698-CE04BAC4C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4015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F84DFE6-EBDC-B03D-B5FF-189501602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1B19F9DE-EA54-DD4E-245E-AFAB8D6F4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ADCE4F64-427E-184B-3949-E82B29FA26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0740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A7C0613-2732-FAFF-B353-E8214F00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7EE04FE9-4E60-1BD3-3ADB-FB5133DF6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47EDFB54-6B56-761A-831C-B8D5E159B4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76567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4B3F3A4-F72C-AC4E-54BD-66F57D8BD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3BA4A230-E973-8A1F-8E09-24D526CCF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FD341880-0831-E859-444E-404E4A305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69454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C93A18C-C979-0CD2-EFCD-090E96DE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3CB5FC87-49AC-23D7-0F3D-730E8CB203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6F92B75E-B5A4-4F2F-C591-43D691AEE3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2261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E1BC542-8B86-E115-3350-7F71E62C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7264EA4F-C197-D303-CEE4-4CAEA7FD09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2081F5E6-3325-9CFA-7C34-F1CDCD2542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1887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C3C8510-24CE-2A9F-087A-0882E46C5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F15F385F-BFFD-D880-93E2-70A4154706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0D39A5A1-BDA6-88E9-A5B1-AF9FA512F3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4445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326D4DF-C125-2F67-2571-5EBD01067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65D15C57-E4A8-4E9C-2960-CE4639E9B7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17DDB5EA-AEF5-9980-4335-1C8C869E4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42071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DD030AC-AAF8-E054-2DBB-8E1C57B99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61B3D259-4D6E-150B-E20F-D610C55BFF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7282CBC9-E9EA-8C21-C48C-F475B4CAF2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22520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3A8B73E-224E-8D06-22AC-434DAD6DB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9049D1B8-329E-14D6-B599-028AD3C6E7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2978D7A2-AC4B-F0C3-B52F-F35CA09D4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20700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C4E9D46-50C1-18C3-1A46-9F744A20E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CE81DB0A-D2A5-310C-AF4F-D1E265BC9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849F7408-095B-A6A1-E3A9-DBE461E617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61638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63F2DE6-6BBB-5A33-52E6-DEB0CB5E7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FBE14C3C-CBA5-3B35-9E05-2131F106F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94AE8FF1-6623-C118-92CA-E3E4FD7B6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2230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F6D663A-9FC4-5A0B-AC76-2F9B79480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613A9145-E70F-7CDC-9256-A6AFF362B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0DB960DA-E8EC-C3D6-BD93-B29A03EB5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90615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77A7DB1-45F9-65E4-28EC-070ACB77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CEC373A6-DE99-C131-7EA3-2E7F3E474D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EF56C103-D95B-541B-F23C-9DC236A48C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93572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1AF784C9-3BB9-21AE-8616-2F116517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CADAC11D-9654-7AA7-C678-8EAE563214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AB51BFA0-A94C-5835-E7A0-3E0B727B87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74616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3A2E2E19-A59F-9AC9-ABE9-7FB94FBED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76935AB5-57A0-0314-0E0B-40783C5013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1B8F0463-E2FD-BF63-C5A9-6638DBC86A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98250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38786244-0D39-4261-A33F-CAE6D9202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D7116EBD-4FD5-DD6E-B14D-868976C086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435915A3-10DF-6753-9991-4A5AF1B0EB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11966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C7ACF22-3CD9-957D-34E2-E8CDDDC39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B6074777-0C01-A335-0915-52DBFF64C3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DF46A5F9-B789-28DB-4DB3-E7433C146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58743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CFD2DA8-82C5-A431-1EB8-5DEF8E81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9928897D-DA39-3247-87E3-4BAD914F40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C0138529-3C93-DE3A-B4A6-C73E1C527D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1536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EB136F8-F88B-D466-65DC-2394AE18A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1B7A4A4F-AFEA-5B1B-B50D-9037024F4D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7587B187-1CF1-20B9-46A3-EC7E4CBA8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91696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C50C292-2686-D24C-7486-393188A3F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E6DA1486-DB1A-7E1D-6A08-02FB87B405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F74C387E-9EFB-CC4D-D8F9-4F5571112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179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D736585-A1A0-35E7-6D10-D5D97C6B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37C9DAC9-4DE3-4647-D156-BF32998326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E993FE98-34BD-C4AE-F241-1A1A5EF82E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13968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3C286C6-AE0C-167B-CD30-A36F96E38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1DC0B182-76C8-7500-2F74-2AEFF70F7F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5D209B34-E379-8FCB-961E-F77C92B0C2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6426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F3E0849-3B12-480A-B2D3-06CA233B9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355EEF61-26EA-8880-51C0-FC51FFA2D3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10EC51A4-6E5F-6723-6582-D15D60294D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63640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AA11A39-B875-D368-A165-5CE47B44F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C3104ED9-758D-9569-30A6-6D4CE6C28F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B7D9E408-43A2-A439-247A-9E775F099A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21934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7C8F5D7-F1AF-7793-A30C-D11D5634D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751A7E83-DC4E-21E5-CED0-0D7929AF93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55EB6F4D-D968-EA8B-254E-54324E30A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05240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BDF7141-3226-3106-5F76-8CF8C5DE7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DF758B9F-E393-4C16-637A-0D4F043087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7BC75D41-3408-0FD0-9C1B-4E19BBA6CE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8614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4F645C0-22FB-BEDC-4EB9-336546216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9C732CB8-F76F-D05B-43FF-20364A2E59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D90510FB-2FF9-7A37-DEC4-D4B3981CF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9609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6011FC4-294A-1973-0DDE-36F3FB390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76919B4C-9EEF-A985-3FBE-4DEB6495B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463BBA0A-C535-DCD6-2AFC-30717F1E7D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1157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A6683-61E0-2590-4026-03FC2274B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BD61F-41D6-9CF8-1065-5827D1F6E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FC189-EED6-3BF1-783C-D887C80C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56B7-8272-4240-871A-7A6050797C5C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77AE9-E3CE-8210-7638-3A65CD7BD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07719-763D-CE59-7AC1-2B6B0263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C46F-34B3-4F80-B864-C594B8A85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415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BE93F-D26A-937C-A93C-EF81AD64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61777-F533-93BE-A0AE-E41D497C4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73F47-78AA-CF4D-A51E-97B58E49B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56B7-8272-4240-871A-7A6050797C5C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13C62-D098-060D-C2B5-DD554020E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1DDB7-5E4E-82BB-7222-7770568E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C46F-34B3-4F80-B864-C594B8A85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882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5EB2D-BECA-C05F-F1C8-79896F06E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E41A2-9352-F116-76D3-126AC9B9E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0691A-0F1D-825B-2472-254436E3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56B7-8272-4240-871A-7A6050797C5C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525A2-673C-7604-A0C4-10103C9D0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D26B3-B23E-EF21-63CD-4946495C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C46F-34B3-4F80-B864-C594B8A85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565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C571E-078D-BFF4-87B1-3D4CC2ED8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30D65-B9DB-EEB8-AD67-96C650CA3B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8B74D-99B7-2216-E410-24F7ECE4F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189C-60C1-33A9-20D7-CBB1F00F5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56B7-8272-4240-871A-7A6050797C5C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983F2-4268-B1DE-06F6-A26560908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3C95B-4FB7-F589-95CB-8BBDBA5D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C46F-34B3-4F80-B864-C594B8A85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91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932B9-A33A-EF4C-F7A4-00CA44B85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34083-1E6B-205A-B67C-45BE9017E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111B2-A0D8-25F1-C3E6-FE08ACFC3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37865E-F0BF-2D69-116D-3D2C1C021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6453B9-98B3-EBE7-5E9B-8F62B2F70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1C3DEF-D587-B911-5C40-4B266F01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56B7-8272-4240-871A-7A6050797C5C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A08312-5E3C-4481-191E-7F3ABFCF2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7E0EC1-506B-7E6F-8CEB-E27D6989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C46F-34B3-4F80-B864-C594B8A85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838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B3F8-E51A-32D9-A3B8-C95D37C5B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9EF896-11CD-C899-1F1F-5860A08F3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56B7-8272-4240-871A-7A6050797C5C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93111-E479-FE02-CB2D-B93FC3EE5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47B2F-15EE-D51B-086F-47ADF408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C46F-34B3-4F80-B864-C594B8A85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976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4842F2-F883-1B80-DC9C-FF1233928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56B7-8272-4240-871A-7A6050797C5C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FB2DC-1375-8AC4-5C60-5F695DEB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8EC4B-F69D-B803-944E-E24B667CE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C46F-34B3-4F80-B864-C594B8A85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527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F0140-BC6B-C497-3A39-FA002D7FB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18D2F-366D-FD27-95B0-8797483A6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644D0-3141-9B93-BFF5-70B8D85CA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D2C14-E91E-112E-5614-EC37C209B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56B7-8272-4240-871A-7A6050797C5C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84596-E01C-7374-C9CE-167909CC3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A4394-F223-B8D8-AD1D-4E8B9C6D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C46F-34B3-4F80-B864-C594B8A85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667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136D-00EC-AB30-4213-0FBD2B8E7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66465-892F-E1EB-F706-61AA7FB03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FFF06-6945-EFF8-BD75-8B6710122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1AE38-E97B-DE35-79EB-7CD562F4A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56B7-8272-4240-871A-7A6050797C5C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AC370-4B40-1749-86D5-1405539C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B084E-0653-A1FC-3B29-9CF38410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C46F-34B3-4F80-B864-C594B8A85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134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D8304-2121-FB34-3E20-6A7542E17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4A09D-FE3A-BF00-F58C-B8C0DB563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80B73-FEB7-B037-1AA2-1E0FF0AFC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56B7-8272-4240-871A-7A6050797C5C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EAB8D-7FEC-6FAF-BFDA-FC2D24FD8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2B60F-BAC5-AE9B-8084-D0D7666B6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C46F-34B3-4F80-B864-C594B8A85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612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80CE7B-FCA1-9CC0-C01C-8B3CB51E1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756B9-DA2D-B76B-0515-ABDC19BB7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32125-E08B-FDE1-12E5-986A355B4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56B7-8272-4240-871A-7A6050797C5C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35D94-9022-02D7-63EC-88CB10B42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FAA2B-711A-2897-0851-636E03AE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C46F-34B3-4F80-B864-C594B8A85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357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8"/>
          <p:cNvSpPr txBox="1">
            <a:spLocks noGrp="1"/>
          </p:cNvSpPr>
          <p:nvPr>
            <p:ph type="title" hasCustomPrompt="1"/>
          </p:nvPr>
        </p:nvSpPr>
        <p:spPr>
          <a:xfrm>
            <a:off x="415600" y="1560533"/>
            <a:ext cx="11360800" cy="25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9pPr>
          </a:lstStyle>
          <a:p>
            <a:r>
              <a:t>xx%</a:t>
            </a:r>
          </a:p>
        </p:txBody>
      </p:sp>
      <p:sp>
        <p:nvSpPr>
          <p:cNvPr id="12" name="Google Shape;12;p48"/>
          <p:cNvSpPr txBox="1">
            <a:spLocks noGrp="1"/>
          </p:cNvSpPr>
          <p:nvPr>
            <p:ph type="body" idx="1"/>
          </p:nvPr>
        </p:nvSpPr>
        <p:spPr>
          <a:xfrm>
            <a:off x="415600" y="4095067"/>
            <a:ext cx="113608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3" name="Google Shape;13;p4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1" descr="Screenshot 2025-12-08 083519.png">
            <a:extLst>
              <a:ext uri="{FF2B5EF4-FFF2-40B4-BE49-F238E27FC236}">
                <a16:creationId xmlns:a16="http://schemas.microsoft.com/office/drawing/2014/main" id="{A8F7CDF4-AC48-C387-F5B7-DB11FDC490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33530" y="160021"/>
            <a:ext cx="5756164" cy="116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81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9"/>
          <p:cNvSpPr/>
          <p:nvPr/>
        </p:nvSpPr>
        <p:spPr>
          <a:xfrm>
            <a:off x="0" y="6333200"/>
            <a:ext cx="12192000" cy="52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None/>
              <a:defRPr>
                <a:solidFill>
                  <a:srgbClr val="98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9"/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Picture 2" descr="Screenshot 2025-12-08 083519.png">
            <a:extLst>
              <a:ext uri="{FF2B5EF4-FFF2-40B4-BE49-F238E27FC236}">
                <a16:creationId xmlns:a16="http://schemas.microsoft.com/office/drawing/2014/main" id="{55DF0896-664E-D8AA-0C79-482090AADD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1119" y="277937"/>
            <a:ext cx="1317306" cy="69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9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B36BFE-F85B-5398-62BA-A935819B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9958C-CDFF-C491-CAED-87942461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FD885-D851-CA4A-9370-E67169267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5356B7-8272-4240-871A-7A6050797C5C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B3B75-BFA0-F99B-7E7D-B50251C4DD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4FD23-113C-31C4-7F9E-7F555018C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7C46F-34B3-4F80-B864-C594B8A85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92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/>
        </p:nvSpPr>
        <p:spPr>
          <a:xfrm>
            <a:off x="968422" y="4279117"/>
            <a:ext cx="5727346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" sz="2200" b="1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 </a:t>
            </a:r>
            <a:r>
              <a:rPr lang="en" sz="2200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Geethu Gopan, Asst. Professor</a:t>
            </a:r>
            <a:endParaRPr sz="2200" dirty="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7862125" y="4291034"/>
            <a:ext cx="4529880" cy="2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" sz="2200" b="1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>
              <a:buClr>
                <a:srgbClr val="000000"/>
              </a:buClr>
              <a:buSzPts val="1800"/>
            </a:pPr>
            <a:r>
              <a:rPr lang="en" sz="2200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Abhishek Biju (MUT22AD005)</a:t>
            </a:r>
            <a:br>
              <a:rPr lang="en" sz="2200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200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Alina Pinheiro (MUT22AD014)</a:t>
            </a:r>
            <a:br>
              <a:rPr lang="en" sz="2200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200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Joel S Mathews (MUT22AD043)</a:t>
            </a:r>
            <a:br>
              <a:rPr lang="en" sz="2200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200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Roshen Reji (MUT22AD062)</a:t>
            </a:r>
            <a:endParaRPr sz="2200" dirty="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968422" y="4618872"/>
            <a:ext cx="2577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" sz="2200" b="1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No.: </a:t>
            </a:r>
            <a:r>
              <a:rPr lang="en" sz="2200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 dirty="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rgbClr val="000000"/>
              </a:buClr>
              <a:buSzPts val="1800"/>
            </a:pPr>
            <a:r>
              <a:rPr lang="en" sz="2200" b="1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No. : </a:t>
            </a:r>
            <a:r>
              <a:rPr lang="en" sz="2200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2200" b="1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 b="1" dirty="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3ADF4D-656B-23F8-D436-03F6B1931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0420" y="1721917"/>
            <a:ext cx="8851159" cy="2557200"/>
          </a:xfrm>
        </p:spPr>
        <p:txBody>
          <a:bodyPr>
            <a:noAutofit/>
          </a:bodyPr>
          <a:lstStyle/>
          <a:p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LUCIDCARE: AN ENSEMBLE PATIENT CENTRIC CLINICAL REPORT INTERPRETATION USING EXPLAINABLE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CD2D43B-01EA-321B-B23E-9278595EE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BB4060EB-1356-C06C-2D6C-15B54AB12A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PROBLEM STATEMENT</a:t>
            </a:r>
            <a:endParaRPr sz="40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8D450057-1A4F-91B5-5F0E-1F5D4940DF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2" y="1567478"/>
            <a:ext cx="1103898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761992" indent="-457200">
              <a:lnSpc>
                <a:spcPct val="100000"/>
              </a:lnSpc>
              <a:spcBef>
                <a:spcPts val="1333"/>
              </a:spcBef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Medical reports are often written in complex technical language, making them difficult for patients to understand. This creates a communication gap and limits patient involvement in their own care. </a:t>
            </a:r>
          </a:p>
          <a:p>
            <a:pPr marL="761992" indent="-457200">
              <a:lnSpc>
                <a:spcPct val="100000"/>
              </a:lnSpc>
              <a:spcBef>
                <a:spcPts val="1333"/>
              </a:spcBef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Hence, there is a need for an AI-driven solution that simplifies medical reports and provides bilingual explanations to improve accessibility and understanding for local patients.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2" indent="-342900" algn="just">
              <a:lnSpc>
                <a:spcPct val="100000"/>
              </a:lnSpc>
              <a:spcBef>
                <a:spcPts val="1333"/>
              </a:spcBef>
            </a:pPr>
            <a:endParaRPr sz="2400" dirty="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F69350BE-1A22-DB1A-C214-64B11A4E8B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D21AFB-A36D-712B-0CBB-A6028BC74DBB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4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70DDCD9-C8B1-5AE4-A0E6-56ABC4A9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C1D4A815-3A87-7337-2618-69636EA2F6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OBJECTIVES</a:t>
            </a:r>
            <a:endParaRPr sz="40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4491AFFE-9D57-76B2-3195-63E2BA3DF1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2" y="1567478"/>
            <a:ext cx="1103898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700" dirty="0">
                <a:latin typeface="Times" panose="02020603050405020304" pitchFamily="18" charset="0"/>
                <a:cs typeface="Times" panose="02020603050405020304" pitchFamily="18" charset="0"/>
              </a:rPr>
              <a:t>Develop a multimodal AI system that integrates a </a:t>
            </a:r>
            <a:r>
              <a:rPr lang="en-US" sz="2700" b="1" dirty="0">
                <a:latin typeface="Times" panose="02020603050405020304" pitchFamily="18" charset="0"/>
                <a:cs typeface="Times" panose="02020603050405020304" pitchFamily="18" charset="0"/>
              </a:rPr>
              <a:t>Large Language Model (LLM) </a:t>
            </a:r>
            <a:r>
              <a:rPr lang="en-US" sz="2700" dirty="0">
                <a:latin typeface="Times" panose="02020603050405020304" pitchFamily="18" charset="0"/>
                <a:cs typeface="Times" panose="02020603050405020304" pitchFamily="18" charset="0"/>
              </a:rPr>
              <a:t>and a </a:t>
            </a:r>
            <a:r>
              <a:rPr lang="en-US" sz="2700" b="1" dirty="0">
                <a:latin typeface="Times" panose="02020603050405020304" pitchFamily="18" charset="0"/>
                <a:cs typeface="Times" panose="02020603050405020304" pitchFamily="18" charset="0"/>
              </a:rPr>
              <a:t>Vision Ensemble Model </a:t>
            </a:r>
            <a:r>
              <a:rPr lang="en-US" sz="2700" dirty="0">
                <a:latin typeface="Times" panose="02020603050405020304" pitchFamily="18" charset="0"/>
                <a:cs typeface="Times" panose="02020603050405020304" pitchFamily="18" charset="0"/>
              </a:rPr>
              <a:t>to analyze medical reports and </a:t>
            </a:r>
            <a:r>
              <a:rPr lang="en-US" sz="2700" b="1" dirty="0">
                <a:latin typeface="Times" panose="02020603050405020304" pitchFamily="18" charset="0"/>
                <a:cs typeface="Times" panose="02020603050405020304" pitchFamily="18" charset="0"/>
              </a:rPr>
              <a:t>chest X-Rays </a:t>
            </a:r>
            <a:r>
              <a:rPr lang="en-US" sz="2700" dirty="0">
                <a:latin typeface="Times" panose="02020603050405020304" pitchFamily="18" charset="0"/>
                <a:cs typeface="Times" panose="02020603050405020304" pitchFamily="18" charset="0"/>
              </a:rPr>
              <a:t>images.</a:t>
            </a:r>
          </a:p>
          <a:p>
            <a:pPr>
              <a:lnSpc>
                <a:spcPct val="100000"/>
              </a:lnSpc>
            </a:pPr>
            <a:r>
              <a:rPr lang="en-US" sz="2700" dirty="0">
                <a:latin typeface="Times" panose="02020603050405020304" pitchFamily="18" charset="0"/>
                <a:cs typeface="Times" panose="02020603050405020304" pitchFamily="18" charset="0"/>
              </a:rPr>
              <a:t>Generate simplified and accurate medical explanations that are easy for patients to understand.</a:t>
            </a:r>
          </a:p>
          <a:p>
            <a:pPr>
              <a:lnSpc>
                <a:spcPct val="100000"/>
              </a:lnSpc>
            </a:pPr>
            <a:r>
              <a:rPr lang="en-US" sz="2700" dirty="0">
                <a:latin typeface="Times" panose="02020603050405020304" pitchFamily="18" charset="0"/>
                <a:cs typeface="Times" panose="02020603050405020304" pitchFamily="18" charset="0"/>
              </a:rPr>
              <a:t>Enable comparison studies, to compare previous and current outputs to identify changes such as, </a:t>
            </a:r>
            <a:r>
              <a:rPr lang="en-US" sz="2700" b="1" dirty="0">
                <a:latin typeface="Times" panose="02020603050405020304" pitchFamily="18" charset="0"/>
                <a:cs typeface="Times" panose="02020603050405020304" pitchFamily="18" charset="0"/>
              </a:rPr>
              <a:t>increases vs. decreases </a:t>
            </a:r>
            <a:r>
              <a:rPr lang="en-US" sz="2700" dirty="0">
                <a:latin typeface="Times" panose="02020603050405020304" pitchFamily="18" charset="0"/>
                <a:cs typeface="Times" panose="02020603050405020304" pitchFamily="18" charset="0"/>
              </a:rPr>
              <a:t>in medical parameters.</a:t>
            </a:r>
          </a:p>
          <a:p>
            <a:pPr>
              <a:lnSpc>
                <a:spcPct val="100000"/>
              </a:lnSpc>
            </a:pPr>
            <a:r>
              <a:rPr lang="en-US" sz="2700" dirty="0">
                <a:latin typeface="Times" panose="02020603050405020304" pitchFamily="18" charset="0"/>
                <a:cs typeface="Times" panose="02020603050405020304" pitchFamily="18" charset="0"/>
              </a:rPr>
              <a:t>Provide </a:t>
            </a:r>
            <a:r>
              <a:rPr lang="en-US" sz="2700" b="1" dirty="0">
                <a:latin typeface="Times" panose="02020603050405020304" pitchFamily="18" charset="0"/>
                <a:cs typeface="Times" panose="02020603050405020304" pitchFamily="18" charset="0"/>
              </a:rPr>
              <a:t>bilingual </a:t>
            </a:r>
            <a:r>
              <a:rPr lang="en-US" sz="2700" dirty="0">
                <a:latin typeface="Times" panose="02020603050405020304" pitchFamily="18" charset="0"/>
                <a:cs typeface="Times" panose="02020603050405020304" pitchFamily="18" charset="0"/>
              </a:rPr>
              <a:t>support (English and Malayalam) to make medical information more accessible and understandable for regional language speakers.</a:t>
            </a:r>
          </a:p>
          <a:p>
            <a:pPr marL="304792" indent="0" algn="just">
              <a:lnSpc>
                <a:spcPct val="100000"/>
              </a:lnSpc>
              <a:spcBef>
                <a:spcPts val="1333"/>
              </a:spcBef>
              <a:buNone/>
            </a:pPr>
            <a:endParaRPr sz="2700" dirty="0">
              <a:latin typeface="Times" panose="02020603050405020304" pitchFamily="18" charset="0"/>
              <a:ea typeface="Times"/>
              <a:cs typeface="Times" panose="02020603050405020304" pitchFamily="18" charset="0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9760CE8F-1482-D376-C233-56E72150F3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B9999E-7B14-81D1-66E8-362AB502EFAD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784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433BB07-B91D-64AC-AB14-72632B0E8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CD8154A2-A661-F685-EFAB-7D6A981C77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884" y="353522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EXISTING SYSTEM</a:t>
            </a:r>
            <a:endParaRPr sz="40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1AE2068D-711D-80BE-5406-58B64C618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1375" y="1046368"/>
            <a:ext cx="1160925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Existing systems use </a:t>
            </a:r>
            <a:r>
              <a:rPr lang="en-US" sz="2600" b="1" dirty="0">
                <a:latin typeface="Times" panose="02020603050405020304" pitchFamily="18" charset="0"/>
                <a:cs typeface="Times" panose="02020603050405020304" pitchFamily="18" charset="0"/>
              </a:rPr>
              <a:t>Large Language Models (LLMs)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 to help patients understand </a:t>
            </a:r>
            <a:r>
              <a:rPr lang="en-US" sz="2600" b="1" dirty="0">
                <a:latin typeface="Times" panose="02020603050405020304" pitchFamily="18" charset="0"/>
                <a:cs typeface="Times" panose="02020603050405020304" pitchFamily="18" charset="0"/>
              </a:rPr>
              <a:t>complex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medical reports.</a:t>
            </a:r>
          </a:p>
          <a:p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These systems automatically convert technical medical jargon into simple, easy-to-read summaries, improving patient comprehension.</a:t>
            </a:r>
          </a:p>
          <a:p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However, most existing solutions focus only on </a:t>
            </a:r>
            <a:r>
              <a:rPr lang="en-US" sz="2600" b="1" dirty="0">
                <a:latin typeface="Times" panose="02020603050405020304" pitchFamily="18" charset="0"/>
                <a:cs typeface="Times" panose="02020603050405020304" pitchFamily="18" charset="0"/>
              </a:rPr>
              <a:t>textual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medical data, without incorporating insights from medical images such as </a:t>
            </a:r>
            <a:r>
              <a:rPr lang="en-US" sz="2600" b="1" dirty="0">
                <a:latin typeface="Times" panose="02020603050405020304" pitchFamily="18" charset="0"/>
                <a:cs typeface="Times" panose="02020603050405020304" pitchFamily="18" charset="0"/>
              </a:rPr>
              <a:t>chest X-Rays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This limits the system’s ability to provide a complete and accurate medical explanation that combines both text and visual information.</a:t>
            </a:r>
          </a:p>
          <a:p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Additionally, most systems generate output only in English, which can be a disadvantage for regional patients who prefer or require information in their native language.</a:t>
            </a: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43DE4D89-19BC-D0A4-B1CF-593A335F3C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BD3836-8298-5F58-4D8A-6D83B906417C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777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0BB9030-99E9-2B66-4237-CC6C57ABC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0ACED08A-72C8-3320-CF60-2536464E2B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DISADVANTAGES OF EXISTING SYSTEM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A402D090-66A7-6ABE-506F-1E2797EBA6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1375" y="1368897"/>
            <a:ext cx="1160925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2200" b="1" dirty="0">
                <a:latin typeface="Times" panose="02020603050405020304" pitchFamily="18" charset="0"/>
                <a:cs typeface="Times" panose="02020603050405020304" pitchFamily="18" charset="0"/>
              </a:rPr>
              <a:t>No Direct Image Analysis</a:t>
            </a:r>
            <a:b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The system relies entirely on the written report rather than the raw image data.</a:t>
            </a:r>
          </a:p>
          <a:p>
            <a:r>
              <a:rPr lang="en-US" sz="2200" b="1" dirty="0">
                <a:latin typeface="Times" panose="02020603050405020304" pitchFamily="18" charset="0"/>
                <a:cs typeface="Times" panose="02020603050405020304" pitchFamily="18" charset="0"/>
              </a:rPr>
              <a:t>No Explainable AI (XAI)</a:t>
            </a:r>
            <a:b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The model provides conclusions without exposing the reasoning path or the features that influenced them.</a:t>
            </a:r>
          </a:p>
          <a:p>
            <a:r>
              <a:rPr lang="en-US" sz="2200" b="1" dirty="0">
                <a:latin typeface="Times" panose="02020603050405020304" pitchFamily="18" charset="0"/>
                <a:cs typeface="Times" panose="02020603050405020304" pitchFamily="18" charset="0"/>
              </a:rPr>
              <a:t>No Multilingual Support</a:t>
            </a:r>
            <a:b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The system primarily operates in English, creating accessibility barriers for non-English-speaking clinicians and patients.</a:t>
            </a:r>
          </a:p>
          <a:p>
            <a:r>
              <a:rPr lang="en-US" sz="2200" b="1" dirty="0">
                <a:latin typeface="Times" panose="02020603050405020304" pitchFamily="18" charset="0"/>
                <a:cs typeface="Times" panose="02020603050405020304" pitchFamily="18" charset="0"/>
              </a:rPr>
              <a:t>One-Way Flow</a:t>
            </a:r>
            <a:b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No communication between text and image models.</a:t>
            </a:r>
            <a:endParaRPr lang="en-US" sz="220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FC3CF64B-2404-D5E2-862D-BC7E4FC05F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651A38-A06C-60A5-F9DE-026FE591DE61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4999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9398E67-E717-2559-ABBF-95C4C1DFE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D81F8ABF-7F3D-2738-C7F4-AB72C0A68B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884" y="353522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LITERATURE SURVEY</a:t>
            </a:r>
            <a:endParaRPr sz="40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2F4588EC-A4CA-814D-B936-3FAA34F787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7B84D0-C092-3A7F-633F-1E4F46ED41C7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D73C5A-A284-C66E-AF4E-AB6C4F7B4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077616"/>
              </p:ext>
            </p:extLst>
          </p:nvPr>
        </p:nvGraphicFramePr>
        <p:xfrm>
          <a:off x="663909" y="1327132"/>
          <a:ext cx="10970876" cy="4715112"/>
        </p:xfrm>
        <a:graphic>
          <a:graphicData uri="http://schemas.openxmlformats.org/drawingml/2006/table">
            <a:tbl>
              <a:tblPr/>
              <a:tblGrid>
                <a:gridCol w="2742719">
                  <a:extLst>
                    <a:ext uri="{9D8B030D-6E8A-4147-A177-3AD203B41FA5}">
                      <a16:colId xmlns:a16="http://schemas.microsoft.com/office/drawing/2014/main" val="1901530349"/>
                    </a:ext>
                  </a:extLst>
                </a:gridCol>
                <a:gridCol w="2742719">
                  <a:extLst>
                    <a:ext uri="{9D8B030D-6E8A-4147-A177-3AD203B41FA5}">
                      <a16:colId xmlns:a16="http://schemas.microsoft.com/office/drawing/2014/main" val="3994032518"/>
                    </a:ext>
                  </a:extLst>
                </a:gridCol>
                <a:gridCol w="2742719">
                  <a:extLst>
                    <a:ext uri="{9D8B030D-6E8A-4147-A177-3AD203B41FA5}">
                      <a16:colId xmlns:a16="http://schemas.microsoft.com/office/drawing/2014/main" val="553602007"/>
                    </a:ext>
                  </a:extLst>
                </a:gridCol>
                <a:gridCol w="2742719">
                  <a:extLst>
                    <a:ext uri="{9D8B030D-6E8A-4147-A177-3AD203B41FA5}">
                      <a16:colId xmlns:a16="http://schemas.microsoft.com/office/drawing/2014/main" val="2427190195"/>
                    </a:ext>
                  </a:extLst>
                </a:gridCol>
              </a:tblGrid>
              <a:tr h="530730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OF PAPER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OVERVIEW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ADVANTAGES/TECHNIQUES/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 rtl="0">
                        <a:buNone/>
                      </a:pP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121838"/>
                  </a:ext>
                </a:extLst>
              </a:tr>
              <a:tr h="1446869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vision–language foundation model for the generation of radiology reports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 rtl="0">
                        <a:buNone/>
                      </a:pPr>
                      <a:r>
                        <a:rPr lang="en-US" sz="1400" b="0" i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Bluethgen</a:t>
                      </a:r>
                      <a:r>
                        <a:rPr lang="en-US" sz="1400" b="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Presents a vision–language foundation approach that adapts large latent-diffusion and VLM techniques to chest X-Rays for generating realistic synthetic CXRs and conditioning text-image generation for report-related tasks.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domain adaptation of a pre-trained latent diffusion model and vision–language alignment to produce controllable image synthesis and downstream radiology tasks.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synthetic-image generation and VLM pretraining adaptation, with limited evaluation of direct clinical report fidelity and real-world deployment constraints.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212434"/>
                  </a:ext>
                </a:extLst>
              </a:tr>
              <a:tr h="1217834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Vision-language models for medical report generation and visual question answering: a review 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 rtl="0">
                        <a:buNone/>
                      </a:pPr>
                      <a:r>
                        <a:rPr lang="en-US" sz="1400" b="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Iryna Hartsock and Ghulam Rasool, 2024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review of medical vision-language models (VLMs), summarizing architectures, datasets, pretraining strategies, and evaluation metrics for report generation and VQA.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Synthesizes progress across model architectures and pretraining strategies, helping identify best practices for multimodal pretraining and evaluation.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 a review, it highlights gaps but does not deliver new experimental evidence or a single validated model for clinical deployment.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074059"/>
                  </a:ext>
                </a:extLst>
              </a:tr>
              <a:tr h="1217834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Orchestrating explainable artificial intelligence for multimodal and longitudinal data in medical imaging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 rtl="0">
                        <a:buNone/>
                      </a:pPr>
                      <a:r>
                        <a:rPr lang="en-US" sz="1400" b="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Pahud de Mortanges et al., 2024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an “XAI Orchestrator” framework to integrate and present explainability outputs across multimodal and longitudinal clinical imaging workflows.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Recommends an adaptive, hierarchical orchestration layer that aggregates model predictions, uncertainty, and multimodal explainability artifacts for clinician interpretation.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Conceptual and review-oriented with limited prospective clinical validation of the orchestrator in real-world workflows.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281042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58EDA14D-ABE0-A96A-2B64-D6EF8AD46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53" y="1571163"/>
            <a:ext cx="19772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306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83741D8-67A9-7973-FF43-C50304E93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84E8B9C5-A59D-06CF-799C-3AEB72B4E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884" y="353522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LITERATURE SURVEY</a:t>
            </a:r>
            <a:endParaRPr sz="40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A249D34D-D03E-7E6F-B6E2-0D56C5B44F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32C2E1-F278-3E15-2B57-0E5DC3A71A8D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3497459-C88A-085E-F73B-AAE1A952E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53" y="1571163"/>
            <a:ext cx="19772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41C100-D60C-4EC1-44CE-DB0426051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248779"/>
              </p:ext>
            </p:extLst>
          </p:nvPr>
        </p:nvGraphicFramePr>
        <p:xfrm>
          <a:off x="735150" y="1348105"/>
          <a:ext cx="10721628" cy="4462967"/>
        </p:xfrm>
        <a:graphic>
          <a:graphicData uri="http://schemas.openxmlformats.org/drawingml/2006/table">
            <a:tbl>
              <a:tblPr/>
              <a:tblGrid>
                <a:gridCol w="2680407">
                  <a:extLst>
                    <a:ext uri="{9D8B030D-6E8A-4147-A177-3AD203B41FA5}">
                      <a16:colId xmlns:a16="http://schemas.microsoft.com/office/drawing/2014/main" val="1660882095"/>
                    </a:ext>
                  </a:extLst>
                </a:gridCol>
                <a:gridCol w="2680407">
                  <a:extLst>
                    <a:ext uri="{9D8B030D-6E8A-4147-A177-3AD203B41FA5}">
                      <a16:colId xmlns:a16="http://schemas.microsoft.com/office/drawing/2014/main" val="1657025577"/>
                    </a:ext>
                  </a:extLst>
                </a:gridCol>
                <a:gridCol w="2680407">
                  <a:extLst>
                    <a:ext uri="{9D8B030D-6E8A-4147-A177-3AD203B41FA5}">
                      <a16:colId xmlns:a16="http://schemas.microsoft.com/office/drawing/2014/main" val="3954016578"/>
                    </a:ext>
                  </a:extLst>
                </a:gridCol>
                <a:gridCol w="2680407">
                  <a:extLst>
                    <a:ext uri="{9D8B030D-6E8A-4147-A177-3AD203B41FA5}">
                      <a16:colId xmlns:a16="http://schemas.microsoft.com/office/drawing/2014/main" val="1379646092"/>
                    </a:ext>
                  </a:extLst>
                </a:gridCol>
              </a:tblGrid>
              <a:tr h="530651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OF PAPER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OVERVIEW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ADVANTAGES/TECHNIQUES/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 rtl="0">
                        <a:buNone/>
                      </a:pP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226529"/>
                  </a:ext>
                </a:extLst>
              </a:tr>
              <a:tr h="1326627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Patient-centered radiology reports with generative artificial intelligence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 rtl="0">
                        <a:buNone/>
                      </a:pPr>
                      <a:r>
                        <a:rPr lang="en-US" sz="1400" b="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Park et al., 2024 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Evaluates AI-generated radiology outputs in patient-friendly formats (summaries, lay explanations, recommendations) and measures readability and hallucination rates.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generative models to create patient-friendly summaries and assesses comprehension with clinician and non-clinician raters.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Small-sample institutional study with limited generalizability and susceptibility to LLM hallucinations in sensitive clinical text.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9451"/>
                  </a:ext>
                </a:extLst>
              </a:tr>
              <a:tr h="1485823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explainable AI-enabled framework for interpreting pulmonary diseases from chest radiographs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 rtl="0">
                        <a:buNone/>
                      </a:pPr>
                      <a:r>
                        <a:rPr lang="en-US" sz="1400" b="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Naz et al., 2023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a CNN transfer-learning pipeline (ResNet50 backbone) that classifies multiple pulmonary diseases from CXR and produces explanations for each prediction.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transfer learning with post-hoc explainability (saliency/attribution) to make model decisions more interpretable to clinicians.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Explanations rely on post-hoc saliency which can be unstable and the study has limited external validation across diverse imaging sources.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23576"/>
                  </a:ext>
                </a:extLst>
              </a:tr>
              <a:tr h="1008237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vision–language model for generating textual descriptions of chest radiographs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 rtl="0">
                        <a:buNone/>
                      </a:pPr>
                      <a:r>
                        <a:rPr lang="en-US" sz="1400" b="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 et al., 2024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a VLM tailored to map chest 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chest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X-Rays visual features into clinical text descriptions for report drafting and assistance.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image encoders with language decoders and evaluates generated textual descriptions for clinical relevance.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varies by finding and depends heavily on training data quality and annotation consistency.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274276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73B4E591-3F13-5CA2-1958-07117214A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222" y="1348105"/>
            <a:ext cx="1998666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989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41211D5-9BC7-2A29-DFDA-AD372D61D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2D47CF83-D44B-20FF-5111-6E0802463E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INFERENCES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BB61D14E-68ED-03A7-8C7A-EBF9456E3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1375" y="1368897"/>
            <a:ext cx="10894785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focus on text-based summarization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radiology reports using LLMs and do not analyze raw medical images directly.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Vision–Language Models show strong potential for multimodal medical 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many works remain research-oriented and lack real-world patient-facing deployment.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improves transparency in medical AI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yet most current approaches rely on post-hoc saliency methods that may be unstable or difficult for non-experts to interpret.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deep learning systems are designed primarily for clinician support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focusing on diagnostic accuracy rather than improving patient understanding of reports.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deep learning (image + text) consistently shows better performance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medical tasks compared to single-modality approaches.`</a:t>
            </a: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14D82E1C-23DF-A75E-8E8F-856E6A30A6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6C9361-4ADB-C9C3-7B71-3EC1D0D6AB82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831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71FE2BE-3E93-46A4-0697-7693E264B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36801CB2-54EA-8B43-35DE-3142F54477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PROPOSED SYSTEM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0C8CD43C-ABD4-1C3F-7FEC-6F0B362895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1375" y="1496716"/>
            <a:ext cx="1160925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Image Analysis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Extracted radiographical medical images are analyzed using a Vision Ensemble Model.</a:t>
            </a: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models are used to identify abnormalities</a:t>
            </a:r>
          </a:p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Report Summarization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outputs from the Vision Ensemble model and extracted text from medical reports are combined and given to the LLM to generate simplified, patient-friendly summaries of the medical report.</a:t>
            </a: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B6E010AF-AE99-83C3-C117-088FF31B91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9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090DF8-BB2E-F761-6BCD-D200E0503544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1627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431DC4E-CF16-6504-56CA-06B1C744C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1693CC2C-368A-986B-634E-B26561A762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PROPOSED SYSTEM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0C0B5523-9758-605C-D747-3C63A8A58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1375" y="1368897"/>
            <a:ext cx="1160925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Explainable AI (XAI)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pPr lvl="1"/>
            <a:r>
              <a:rPr lang="en-US" altLang="en-US" sz="2200" dirty="0">
                <a:latin typeface="Times" panose="02020603050405020304" pitchFamily="18" charset="0"/>
                <a:cs typeface="Times" panose="02020603050405020304" pitchFamily="18" charset="0"/>
              </a:rPr>
              <a:t>Explainable AI is integrated with the LLM to improve generated summaries.</a:t>
            </a: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US" altLang="en-US" sz="2200" dirty="0">
                <a:latin typeface="Times" panose="02020603050405020304" pitchFamily="18" charset="0"/>
                <a:cs typeface="Times" panose="02020603050405020304" pitchFamily="18" charset="0"/>
              </a:rPr>
              <a:t>The LLM uses structured, simplified prompts to translate complex medical terminology into layman-friendly language.</a:t>
            </a:r>
            <a:endParaRPr lang="en-US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Comparative Analysis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Compares previous and current medical summaries.</a:t>
            </a: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Helps identify changes in medical parameters, such as normal vs. abnormal findings or increases vs. decreases over time.</a:t>
            </a:r>
          </a:p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Bilingual Support: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Generates medical reports in both English and Malayalam, making the information accessible and understandable for regional language speakers.</a:t>
            </a:r>
          </a:p>
          <a:p>
            <a:pPr marL="0" indent="0">
              <a:buNone/>
            </a:pP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B2DAFC32-FA0D-9E5D-8F29-63EFDD7130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10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B896A1-8370-5853-9EDF-D375477D9B1B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9401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71F06A6-4136-34C5-9098-8864B3EE1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F4329E15-BE6C-1DD6-7774-603EF1EF8C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ADVANTAGES OF PROPOSED SYSTEM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1FF1B185-BA49-D19B-E15F-CF1B1066BC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1375" y="1546159"/>
            <a:ext cx="1160925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Explainable AI (XAI)</a:t>
            </a: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Uses simplified prompt to generate patient-friendly summaries and visual features are highlighted.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Report Analysis</a:t>
            </a: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Vision Ensemble model and LLM generate simplified explanation for the patients.</a:t>
            </a: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8CDEECBC-5D06-BDC9-3FD9-4A33CF3653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D63B78-2B1A-A74F-82C7-A2AD484AF27A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3653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1818B88-0629-D552-4C16-20B14546B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88EDF2C2-D1FD-41C6-4D25-BEF8DE0171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ADVANTAGES OF PROPOSED SYSTEM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B99B8E6B-0C3E-53B8-730D-501847B7DE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1375" y="1368897"/>
            <a:ext cx="1160925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Comparative Insights</a:t>
            </a: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Integrates patient history to explain difference between previous and current summary.</a:t>
            </a:r>
          </a:p>
          <a:p>
            <a:pPr marL="152396" indent="0">
              <a:buNone/>
            </a:pPr>
            <a:endParaRPr lang="en-US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Bilingual Support</a:t>
            </a: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Produces reports in Malayalam, boosting accessibility for non-English speakers and promoting health literacy in regional populations.</a:t>
            </a: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135EBF53-4874-480A-DBCE-6B61CC7F53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5ABF4-4C98-7D16-17F5-D52D2AD2D285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0592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3450287-FBE2-B559-AF77-0E322CCE5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53471550-064B-D418-CF1B-3C4CD74BEC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SYSTEM ARCHITECTURE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A905959E-63A9-A1AB-802E-1E35D6D69D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4C792B-45E4-D92F-C223-2DA4FDBA9EAB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795BE3-5F37-BC5C-22A4-6B8311730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029" y="1481557"/>
            <a:ext cx="4325941" cy="473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224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5472A1F-D86C-07E2-B30D-7C5DF8CDB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EFB6CCAA-BD36-F609-4B86-EA0F137D0D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LEVEL 0 DFD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B0675807-A428-7D07-6C59-543F35F60F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FB3788-4997-10CF-D2E4-F5785F4C2495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800232-B1A0-85A4-DCA0-BE2B191EE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4" y="3039495"/>
            <a:ext cx="10933471" cy="779010"/>
          </a:xfrm>
          <a:prstGeom prst="rect">
            <a:avLst/>
          </a:pr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8A38A091-C729-79C3-F9AF-EB185E7EC692}"/>
              </a:ext>
            </a:extLst>
          </p:cNvPr>
          <p:cNvSpPr/>
          <p:nvPr/>
        </p:nvSpPr>
        <p:spPr>
          <a:xfrm rot="16200000">
            <a:off x="6880860" y="3355340"/>
            <a:ext cx="177800" cy="1016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586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0595CF7-BE54-A29E-2C40-31580160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80E77760-1FE2-10C5-3E1F-848285F94C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LEVEL 1 DFD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4C583020-3B80-47F0-F94E-97F17A6B37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5CC6F5-6268-7830-4CCF-D5DC86655D39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EC58A2-6B09-48DE-5951-6C205A652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50" y="1268463"/>
            <a:ext cx="8115300" cy="498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26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5647556-D939-6D11-F54C-41FC01704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08456F41-5658-6EC0-3C0E-F9E1DF73E8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EVEL 2 DFD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3E65A660-B350-1D2C-3C04-227778C23E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16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FEEFDE-79E4-14FF-6955-21C13B26A57F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9DE14A-4639-669D-F170-A9890FE35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772" y="1368897"/>
            <a:ext cx="8556456" cy="494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231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F04D5FE-A703-83BD-83ED-2A2072CB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26731C9C-5C66-B1AA-AED7-E442521967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MODULES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7C9EE15D-E203-E2FA-2E9B-4EC7FE1CFC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8020" y="1368897"/>
            <a:ext cx="1066176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152396" indent="0">
              <a:buNone/>
            </a:pPr>
            <a:r>
              <a:rPr lang="en-US" sz="2200" b="1" dirty="0">
                <a:latin typeface="Times" panose="02020603050405020304" pitchFamily="18" charset="0"/>
                <a:cs typeface="Times" panose="02020603050405020304" pitchFamily="18" charset="0"/>
              </a:rPr>
              <a:t>1. React Frontend</a:t>
            </a:r>
          </a:p>
          <a:p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Handles login and signup (authentication) </a:t>
            </a:r>
          </a:p>
          <a:p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Allows upload of medical PDF reports and X-Ray images</a:t>
            </a:r>
          </a:p>
          <a:p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Supports comparison with past reports </a:t>
            </a:r>
          </a:p>
          <a:p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Displays results in a simple dashboard</a:t>
            </a:r>
          </a:p>
          <a:p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Choose preferred language either English or Malayalam</a:t>
            </a:r>
          </a:p>
          <a:p>
            <a:pPr marL="152396" indent="0">
              <a:buNone/>
            </a:pP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52396" indent="0">
              <a:buNone/>
            </a:pPr>
            <a:r>
              <a:rPr lang="en-IN" sz="2000" b="1" dirty="0">
                <a:latin typeface="Times" panose="02020603050405020304" pitchFamily="18" charset="0"/>
                <a:cs typeface="Times" panose="02020603050405020304" pitchFamily="18" charset="0"/>
              </a:rPr>
              <a:t>2. Flask Backend</a:t>
            </a:r>
          </a:p>
          <a:p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Connects frontend with AI models </a:t>
            </a:r>
          </a:p>
          <a:p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Processes PDF input using OCR for text extraction and PDF2Image for image extraction, then forwards the processed data to AI models</a:t>
            </a:r>
          </a:p>
          <a:p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Retrieves and organizes past records for comparison</a:t>
            </a:r>
          </a:p>
          <a:p>
            <a:pPr marL="152396" indent="0">
              <a:buNone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7BD3E2D7-3260-C1E2-70B9-2AC52BFCB7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17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3C816E-EF3E-B8A5-2009-4FF455D4AE5C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36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4CC0C83-1BAA-D131-15D3-357B93FAB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BE2A385B-8C04-10C8-18D7-B6AC77FA17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MODULES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97392637-8DBE-69B9-42FF-DD1B9C02A0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8020" y="1368897"/>
            <a:ext cx="1066176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152396" indent="0">
              <a:buNone/>
            </a:pPr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3. Vision Ensemble Model (YOLOv8 + DenseNet121)</a:t>
            </a:r>
          </a:p>
          <a:p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Detector (YOLOv8):		</a:t>
            </a:r>
            <a:endParaRPr lang="en-IN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Identifies ROI (Regions of Interest) </a:t>
            </a:r>
          </a:p>
          <a:p>
            <a:pPr lvl="1"/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Detects abnormalities</a:t>
            </a:r>
          </a:p>
          <a:p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Classifier (DenseNet121):</a:t>
            </a:r>
          </a:p>
          <a:p>
            <a:pPr lvl="1"/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Classifies diseases from detected regions </a:t>
            </a:r>
          </a:p>
          <a:p>
            <a:pPr lvl="1"/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Finds the confidence score of the disease</a:t>
            </a:r>
          </a:p>
          <a:p>
            <a:pPr marL="643462" indent="-4572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JSON Output: </a:t>
            </a:r>
          </a:p>
          <a:p>
            <a:pPr lvl="1"/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Disease name</a:t>
            </a:r>
          </a:p>
          <a:p>
            <a:pPr lvl="1"/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Confidence score</a:t>
            </a:r>
          </a:p>
          <a:p>
            <a:pPr lvl="1"/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Location of abnormality</a:t>
            </a: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396D3E73-5AA0-39C8-CFC9-7321DC888B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66E0F0-8110-D29F-3D44-FC09D71B9D0F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97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C9511D5-0698-5663-D894-91CFAD7E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B5E43B20-629E-41AA-BCBF-42E3BD6C14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MODULES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4A0D8AAF-6B7F-27AB-E65C-823B78A259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8020" y="1368897"/>
            <a:ext cx="1066176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152396" indent="0">
              <a:buNone/>
            </a:pPr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4. LLM Integration (</a:t>
            </a:r>
            <a:r>
              <a:rPr lang="en-IN" sz="2200" b="1" dirty="0" err="1">
                <a:latin typeface="Times" panose="02020603050405020304" pitchFamily="18" charset="0"/>
                <a:cs typeface="Times" panose="02020603050405020304" pitchFamily="18" charset="0"/>
              </a:rPr>
              <a:t>Groq</a:t>
            </a:r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 LLM)</a:t>
            </a:r>
          </a:p>
          <a:p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Adds </a:t>
            </a:r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JSON output + extracted text </a:t>
            </a: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into the LLM function</a:t>
            </a:r>
          </a:p>
          <a:p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Generates a clear, simplified medical explanation using XAI</a:t>
            </a:r>
          </a:p>
          <a:p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Converts complex diagnostics into patient-friendly language </a:t>
            </a:r>
          </a:p>
          <a:p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Acts as bridge between AI analysis and user understanding</a:t>
            </a:r>
          </a:p>
          <a:p>
            <a:pPr marL="152396" indent="0">
              <a:buNone/>
            </a:pPr>
            <a:endParaRPr lang="en-IN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52396" indent="0">
              <a:buNone/>
            </a:pPr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5. </a:t>
            </a:r>
            <a:r>
              <a:rPr lang="en-IN" sz="2200" b="1" dirty="0" err="1">
                <a:latin typeface="Times" panose="02020603050405020304" pitchFamily="18" charset="0"/>
                <a:cs typeface="Times" panose="02020603050405020304" pitchFamily="18" charset="0"/>
              </a:rPr>
              <a:t>Comparitive</a:t>
            </a:r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 Analysis</a:t>
            </a:r>
          </a:p>
          <a:p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Required summaries are fetched from the database</a:t>
            </a:r>
          </a:p>
          <a:p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Summaries are fed to the </a:t>
            </a:r>
            <a:r>
              <a:rPr lang="en-IN" sz="2200" dirty="0" err="1">
                <a:latin typeface="Times" panose="02020603050405020304" pitchFamily="18" charset="0"/>
                <a:cs typeface="Times" panose="02020603050405020304" pitchFamily="18" charset="0"/>
              </a:rPr>
              <a:t>Groq</a:t>
            </a: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 LLM for comparison</a:t>
            </a:r>
          </a:p>
          <a:p>
            <a:pPr marL="152396" indent="0">
              <a:buNone/>
            </a:pPr>
            <a:endParaRPr lang="en-IN" sz="2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D4B552B8-EF95-3C2A-1A12-7E90292A99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19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0B7F4B-E3D5-228F-A77B-FFA9EDE41E9A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24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9F8AB53-5A6C-6353-E556-F8DA5B35F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19D909EF-E19E-0F26-4785-D3CD7B2F11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MODULES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ABC353E5-58EC-9811-AE85-83EEB22384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8020" y="1368897"/>
            <a:ext cx="1066176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152396" indent="0">
              <a:buNone/>
            </a:pPr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6. Bilingual Explanations</a:t>
            </a:r>
          </a:p>
          <a:p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When user selects English language, </a:t>
            </a:r>
            <a:r>
              <a:rPr lang="en-IN" sz="2200" dirty="0" err="1">
                <a:latin typeface="Times" panose="02020603050405020304" pitchFamily="18" charset="0"/>
                <a:cs typeface="Times" panose="02020603050405020304" pitchFamily="18" charset="0"/>
              </a:rPr>
              <a:t>Groq</a:t>
            </a: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 LLM recognises it and generates the report in English</a:t>
            </a:r>
          </a:p>
          <a:p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When user selects Malayalam language, </a:t>
            </a:r>
            <a:r>
              <a:rPr lang="en-IN" sz="2200" dirty="0" err="1">
                <a:latin typeface="Times" panose="02020603050405020304" pitchFamily="18" charset="0"/>
                <a:cs typeface="Times" panose="02020603050405020304" pitchFamily="18" charset="0"/>
              </a:rPr>
              <a:t>Groq</a:t>
            </a: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 LLM recognises and generates the report in Malayalam</a:t>
            </a: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4EBB6F44-53DB-3600-D0BE-2F56B811A2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20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6CECE6-767A-FBDD-D336-202987D44F96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2228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3BC35B3-C82B-B3EE-BE46-E7B466CC3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6973F818-4C43-7EEB-A71D-B44AA68819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NOVELTY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D9BB65AD-958C-5640-CD81-A58F3608F8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21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1FA4F3-62C3-744B-170B-83C3FB34459E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FCFAE-D66A-0D69-B707-3F432822D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Bilingual AI explanations for healthcare accessibility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Comparitive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of patient health history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-LLM gives simplified lay-man explanations.</a:t>
            </a:r>
          </a:p>
        </p:txBody>
      </p:sp>
    </p:spTree>
    <p:extLst>
      <p:ext uri="{BB962C8B-B14F-4D97-AF65-F5344CB8AC3E}">
        <p14:creationId xmlns:p14="http://schemas.microsoft.com/office/powerpoint/2010/main" val="2220235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4B2F6BE-DC58-B7FB-881B-EB4E13545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C3DDEE7D-EC84-DAD4-DA60-61F668616A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DATA DESIGN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5583D4A2-F37D-A10F-6A4D-CBA41E9318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13" y="1467219"/>
            <a:ext cx="1066176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Medical Images (Chest X-Rays): 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NIH (Kaggle), </a:t>
            </a:r>
            <a:r>
              <a:rPr lang="en-US" sz="2000" dirty="0" err="1">
                <a:latin typeface="Times" panose="02020603050405020304" pitchFamily="18" charset="0"/>
                <a:cs typeface="Times" panose="02020603050405020304" pitchFamily="18" charset="0"/>
              </a:rPr>
              <a:t>RoboFlow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000" u="sng" dirty="0">
                <a:latin typeface="Times" panose="02020603050405020304" pitchFamily="18" charset="0"/>
                <a:cs typeface="Times" panose="02020603050405020304" pitchFamily="18" charset="0"/>
              </a:rPr>
              <a:t>YoloV8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: </a:t>
            </a:r>
          </a:p>
          <a:p>
            <a:pPr lvl="1"/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Total dataset: 18,000 labelled dataset</a:t>
            </a:r>
          </a:p>
          <a:p>
            <a:pPr lvl="1"/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Training: 80%</a:t>
            </a:r>
          </a:p>
          <a:p>
            <a:pPr lvl="1"/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Validation: 10%</a:t>
            </a:r>
          </a:p>
          <a:p>
            <a:pPr lvl="1"/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Testing: 10%</a:t>
            </a:r>
          </a:p>
          <a:p>
            <a:r>
              <a:rPr lang="en-US" sz="2000" u="sng" dirty="0" err="1">
                <a:latin typeface="Times" panose="02020603050405020304" pitchFamily="18" charset="0"/>
                <a:cs typeface="Times" panose="02020603050405020304" pitchFamily="18" charset="0"/>
              </a:rPr>
              <a:t>DenseNet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pPr lvl="1"/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Total dataset: 13,000</a:t>
            </a:r>
          </a:p>
          <a:p>
            <a:pPr lvl="1"/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Disease categories: Normal, COVID-19, Tuberculosis, Pneumonia</a:t>
            </a:r>
          </a:p>
          <a:p>
            <a:pPr lvl="1"/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Training: 80%</a:t>
            </a:r>
          </a:p>
          <a:p>
            <a:pPr lvl="1"/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Validation: 10%</a:t>
            </a:r>
          </a:p>
          <a:p>
            <a:pPr lvl="1"/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Testing: 10%</a:t>
            </a: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42DF4F84-B8E9-87CA-19A4-60C50901B9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22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D7F900-DA9F-E529-FEBF-F74B18342D74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607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528C4AC-CCF0-F0D3-C88F-02B4412EA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0D9FAFAA-013B-6A5B-FFFC-BC401BC00E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833359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ALGORITHM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4C2F2A9E-A10B-3464-0BE5-CD0F632BE8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23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884E82-ED4E-9442-4043-0C1ACF8D7B17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9B8EC8A-5E04-B366-7006-C4F2126880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8774" y="1967391"/>
            <a:ext cx="9805987" cy="3490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52396" indent="0">
              <a:buNone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1. Upload &amp; Data Extraction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Users upload medical reports in PDF format and selects their preferred language – English or Malayalam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System extracts text from report and image extraction for chest X-Rays images.</a:t>
            </a:r>
          </a:p>
          <a:p>
            <a:pPr marL="152396" indent="0">
              <a:buNone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2. Image Analysis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AI detects abnormalities in the chest X-Rays images with help of Vision Ensemble Model.</a:t>
            </a:r>
          </a:p>
        </p:txBody>
      </p:sp>
    </p:spTree>
    <p:extLst>
      <p:ext uri="{BB962C8B-B14F-4D97-AF65-F5344CB8AC3E}">
        <p14:creationId xmlns:p14="http://schemas.microsoft.com/office/powerpoint/2010/main" val="2927796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CFF5568-7EC8-BEA3-FD3D-CFCB439F4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132B9C56-C63F-019F-DF97-D693EE46EF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833359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ALGORITHM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C50795F4-18E3-50DB-1B30-E084E2C36E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24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CEA397-CCA0-FBBE-5514-59E90AB2ABC8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FEAC07D-0651-1855-2A3A-EB31B47842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8774" y="2322088"/>
            <a:ext cx="9805987" cy="3065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52396" indent="0">
              <a:buNone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3. Patient-Friendly Results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Converts complex medical terms into simple language with the help of LLM using XAI</a:t>
            </a:r>
          </a:p>
          <a:p>
            <a:pPr marL="152396" indent="0">
              <a:buNone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4. Health Tracking &amp; Comparison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Compares current reports with previously uploaded data 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Highlights the improvements, or deteriorations</a:t>
            </a:r>
          </a:p>
          <a:p>
            <a:pPr marL="152396" indent="0">
              <a:buNone/>
            </a:pP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275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2AB511B-5442-86DD-420F-10A2630E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79C9B40B-92A7-08EA-2627-E793AC6F0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9147226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</a:t>
            </a:r>
            <a:r>
              <a:rPr lang="en-IN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OFTWARE AND HARDWARE REQUIREMENTS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42FE2587-2C67-69D2-F063-E99056A9CB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8219" y="1905875"/>
            <a:ext cx="1066176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2000" b="1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Hardware Requirements: </a:t>
            </a:r>
            <a:b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</a:br>
            <a: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• CPU: AMD </a:t>
            </a:r>
            <a:r>
              <a:rPr lang="en-IN" sz="2000" dirty="0" err="1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Ryzen</a:t>
            </a:r>
            <a: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 7 </a:t>
            </a:r>
            <a:b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</a:br>
            <a: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• GPU: NVIDIA RTX 4050 </a:t>
            </a:r>
            <a:b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</a:br>
            <a: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• RAM: 16 GB</a:t>
            </a:r>
            <a:b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</a:br>
            <a: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• Storage: 10 GB</a:t>
            </a:r>
          </a:p>
          <a:p>
            <a:r>
              <a:rPr lang="en-IN" sz="2000" b="1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Software Requirements </a:t>
            </a:r>
            <a:b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</a:br>
            <a: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• Operating System: Windows 11</a:t>
            </a:r>
            <a:b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</a:br>
            <a: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• Core Technology: Python 3.9</a:t>
            </a:r>
            <a:b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</a:br>
            <a: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• AI/ML Libraries: </a:t>
            </a:r>
            <a:r>
              <a:rPr lang="en-IN" sz="2000" dirty="0" err="1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PyTorch</a:t>
            </a:r>
            <a: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 / TensorFlow, Transformers, PDF2Image, OpenCV, Tesseract (OCR)</a:t>
            </a:r>
            <a:b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</a:br>
            <a: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• Backend: </a:t>
            </a:r>
            <a:r>
              <a:rPr lang="en-IN" sz="2000" dirty="0" err="1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FlaskAPI</a:t>
            </a:r>
            <a: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 </a:t>
            </a:r>
            <a:b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</a:br>
            <a:r>
              <a:rPr lang="en-IN" sz="2000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• Database: </a:t>
            </a:r>
            <a:r>
              <a:rPr lang="en-IN" sz="2000" dirty="0" err="1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SupaBase</a:t>
            </a:r>
            <a:endParaRPr lang="en-US" sz="2000" dirty="0">
              <a:latin typeface="Times" panose="02020603050405020304" pitchFamily="18" charset="0"/>
              <a:ea typeface="Tahoma" panose="020B0604030504040204" pitchFamily="34" charset="0"/>
              <a:cs typeface="Times" panose="02020603050405020304" pitchFamily="18" charset="0"/>
            </a:endParaRPr>
          </a:p>
          <a:p>
            <a:pPr marL="152396" indent="0">
              <a:buNone/>
            </a:pPr>
            <a:endParaRPr lang="en-US" sz="2000" dirty="0">
              <a:latin typeface="Times" panose="02020603050405020304" pitchFamily="18" charset="0"/>
              <a:ea typeface="Tahoma" panose="020B0604030504040204" pitchFamily="34" charset="0"/>
              <a:cs typeface="Times" panose="02020603050405020304" pitchFamily="18" charset="0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84AE0D32-D957-BDA2-5D47-EFF4254462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25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584E4E-B808-6A35-E936-B3C019F440D4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831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3CB36D5-91B0-7A51-A0B5-99C1FB80F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F977FCB1-0E40-414C-40DB-FD481FC328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9147226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COMPARITIVE STUDY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75BB1FBC-70E6-6CD0-A778-A609EFA755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26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79C034-F637-683A-358E-1D4E0F2171B0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F54EF3-BF6C-77DC-B668-3379FB317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273134"/>
              </p:ext>
            </p:extLst>
          </p:nvPr>
        </p:nvGraphicFramePr>
        <p:xfrm>
          <a:off x="670560" y="1401931"/>
          <a:ext cx="10853665" cy="4244742"/>
        </p:xfrm>
        <a:graphic>
          <a:graphicData uri="http://schemas.openxmlformats.org/drawingml/2006/table">
            <a:tbl>
              <a:tblPr/>
              <a:tblGrid>
                <a:gridCol w="1442718">
                  <a:extLst>
                    <a:ext uri="{9D8B030D-6E8A-4147-A177-3AD203B41FA5}">
                      <a16:colId xmlns:a16="http://schemas.microsoft.com/office/drawing/2014/main" val="1874555985"/>
                    </a:ext>
                  </a:extLst>
                </a:gridCol>
                <a:gridCol w="2301337">
                  <a:extLst>
                    <a:ext uri="{9D8B030D-6E8A-4147-A177-3AD203B41FA5}">
                      <a16:colId xmlns:a16="http://schemas.microsoft.com/office/drawing/2014/main" val="3311590271"/>
                    </a:ext>
                  </a:extLst>
                </a:gridCol>
                <a:gridCol w="81546">
                  <a:extLst>
                    <a:ext uri="{9D8B030D-6E8A-4147-A177-3AD203B41FA5}">
                      <a16:colId xmlns:a16="http://schemas.microsoft.com/office/drawing/2014/main" val="2615144949"/>
                    </a:ext>
                  </a:extLst>
                </a:gridCol>
                <a:gridCol w="2525595">
                  <a:extLst>
                    <a:ext uri="{9D8B030D-6E8A-4147-A177-3AD203B41FA5}">
                      <a16:colId xmlns:a16="http://schemas.microsoft.com/office/drawing/2014/main" val="2207826967"/>
                    </a:ext>
                  </a:extLst>
                </a:gridCol>
                <a:gridCol w="2501001">
                  <a:extLst>
                    <a:ext uri="{9D8B030D-6E8A-4147-A177-3AD203B41FA5}">
                      <a16:colId xmlns:a16="http://schemas.microsoft.com/office/drawing/2014/main" val="1701474744"/>
                    </a:ext>
                  </a:extLst>
                </a:gridCol>
                <a:gridCol w="2001468">
                  <a:extLst>
                    <a:ext uri="{9D8B030D-6E8A-4147-A177-3AD203B41FA5}">
                      <a16:colId xmlns:a16="http://schemas.microsoft.com/office/drawing/2014/main" val="1561290950"/>
                    </a:ext>
                  </a:extLst>
                </a:gridCol>
              </a:tblGrid>
              <a:tr h="378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/ Approach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 Architecture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Requirement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/ Performance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17675"/>
                  </a:ext>
                </a:extLst>
              </a:tr>
              <a:tr h="873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Vision-Language Models (VLM)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a vision encoder and language decoder to generate radiology descriptions or answer questions from medical images.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large multimodal datasets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(image-text pairs such as MIMIC-CXR).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Typically 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85–92%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report generation tasks depending on dataset and architecture.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massive training data, limited transparency in clinical reasoning, mainly used for report generation rather than diagnosis.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316139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 Transformer (</a:t>
                      </a:r>
                      <a:r>
                        <a:rPr lang="en-IN" sz="13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Transformer-based architecture where images are split into patches and processed using self-attention layers for classification.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labeled image datasets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train effectively.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Around 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88–94% classification accuracy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chest </a:t>
                      </a:r>
                      <a:r>
                        <a:rPr lang="en-US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chest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X-Rays classification tasks.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expensive, lacks multimodal reasoning, does not interpret textual reports.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9305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YOLOv6 Detection Model</a:t>
                      </a:r>
                      <a:endParaRPr lang="en-IN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CNN-based real-time object detection architecture for identifying abnormal regions in medical images.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</a:t>
                      </a:r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moderate-to-large annotated datasets</a:t>
                      </a: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labeled bounding boxes.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Around </a:t>
                      </a:r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90–95% detection accuracy</a:t>
                      </a: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depending on dataset quality.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abnormalities but cannot provide clinical explanation or textual interpretation.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799084"/>
                  </a:ext>
                </a:extLst>
              </a:tr>
              <a:tr h="1056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Model – LucidCare</a:t>
                      </a:r>
                      <a:endParaRPr lang="en-IN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multimodal architecture combining YOLOv8 for abnormality detection, </a:t>
                      </a:r>
                      <a:r>
                        <a:rPr lang="en-US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classification, and an LLM for report interpretation.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medical imaging dataset with associated clinical reports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(pulmonary disease dataset used for experimentation).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98% classification accuracy</a:t>
                      </a: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across COVID-19, Pneumonia, Tuberculosis, and Normal classes.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limited by dataset diversity; future work includes expanding dataset and improving clinical validation.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970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638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7206377-A4FF-0892-DA5A-3B4D45E05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FEB5D6B1-A71A-4726-A37C-90C6021B99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EXPERIMENTAL RESULTS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4F5C5F2C-F0B5-70FB-F841-8415F62ABA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27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496DBF-B426-BE18-8222-1D24B615CCB7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4647E3-0023-EA4F-1D68-670F61BB5F7C}"/>
              </a:ext>
            </a:extLst>
          </p:cNvPr>
          <p:cNvSpPr txBox="1"/>
          <p:nvPr/>
        </p:nvSpPr>
        <p:spPr>
          <a:xfrm>
            <a:off x="4790514" y="5541732"/>
            <a:ext cx="2610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YoloV8 Confusion Matrix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A295FC8-E8B7-DB71-0B29-DD8AA329F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663" y="1369060"/>
            <a:ext cx="5149850" cy="411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4230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3CB90C6-C631-940A-7C4E-0BDD918F6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9D5B32D6-CC0F-98E9-C5B1-E8A23C5981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EXPERIMENTAL RESULTS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D7058B99-DABE-99F6-8F8F-8E6CE9208D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28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DEB186-2831-4793-5F37-BDC855C40752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C533E-B37D-D70B-73A9-2397CFAB6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174" y="1549634"/>
            <a:ext cx="4385187" cy="37587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C1193B-6CE0-D928-3E6D-D9C8AC6A6467}"/>
              </a:ext>
            </a:extLst>
          </p:cNvPr>
          <p:cNvSpPr txBox="1"/>
          <p:nvPr/>
        </p:nvSpPr>
        <p:spPr>
          <a:xfrm>
            <a:off x="4088259" y="5451445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DenseNet121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20714579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86759ED-5225-E2A1-0B96-7DD9EFCFC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FC195998-BE77-B540-8C5A-0E17227F7E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EXPERIMENTAL RESULTS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AEDB6A54-B623-3C0F-0ED6-B97E4F9E5E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29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6A05F9-C411-E256-1A23-0B9DC8B42E24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22C274-200B-5E5A-6753-18535B44D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280" y="1486617"/>
            <a:ext cx="9323439" cy="38847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446FC8-72FB-53F0-240A-1176D40D5988}"/>
              </a:ext>
            </a:extLst>
          </p:cNvPr>
          <p:cNvSpPr txBox="1"/>
          <p:nvPr/>
        </p:nvSpPr>
        <p:spPr>
          <a:xfrm>
            <a:off x="4088259" y="5451445"/>
            <a:ext cx="3211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DenseNet121 Training Accuracy</a:t>
            </a:r>
          </a:p>
        </p:txBody>
      </p:sp>
    </p:spTree>
    <p:extLst>
      <p:ext uri="{BB962C8B-B14F-4D97-AF65-F5344CB8AC3E}">
        <p14:creationId xmlns:p14="http://schemas.microsoft.com/office/powerpoint/2010/main" val="24838279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A407D6D-7B4F-3428-AB09-69F4A2609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9AD75E77-6EDD-DA69-3EB8-5EEA8FEA21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EXPERIMENTAL RESULTS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DA2E7C93-9C03-EAFD-2F8F-AECFF1C0F2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30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DCB677-D7B5-8851-345E-689C28D3011C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821CCF-412D-441F-68B0-0C45D473FF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542" y="1742797"/>
            <a:ext cx="6590916" cy="33724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102F20-248F-5975-EE6D-71ABE2472D03}"/>
              </a:ext>
            </a:extLst>
          </p:cNvPr>
          <p:cNvSpPr txBox="1"/>
          <p:nvPr/>
        </p:nvSpPr>
        <p:spPr>
          <a:xfrm>
            <a:off x="4088259" y="5451445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DenseNet121 Classification Report</a:t>
            </a:r>
          </a:p>
        </p:txBody>
      </p:sp>
    </p:spTree>
    <p:extLst>
      <p:ext uri="{BB962C8B-B14F-4D97-AF65-F5344CB8AC3E}">
        <p14:creationId xmlns:p14="http://schemas.microsoft.com/office/powerpoint/2010/main" val="19381685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02C306E-2145-B97E-1FAF-CA6BEE579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CA097E76-9FF7-0CF6-0429-05A40A579C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EXPERIMENTAL RESULTS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822107CB-2F49-7DEB-F06D-7E1844F4FF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31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E71B41-1DD8-FECA-ACCA-B079384AD827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9D057B-B15B-744D-73A5-E8A9C07DE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75698"/>
            <a:ext cx="5812460" cy="2506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7605F7-0129-0DBA-6244-8C15706ABE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3" y="2175698"/>
            <a:ext cx="5523922" cy="25066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182AF7-4BB8-9273-2B99-1742F6167D23}"/>
              </a:ext>
            </a:extLst>
          </p:cNvPr>
          <p:cNvSpPr txBox="1"/>
          <p:nvPr/>
        </p:nvSpPr>
        <p:spPr>
          <a:xfrm>
            <a:off x="2588846" y="4841845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Landing Page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4E8EE2-8655-2362-F182-FCE48480C122}"/>
              </a:ext>
            </a:extLst>
          </p:cNvPr>
          <p:cNvSpPr txBox="1"/>
          <p:nvPr/>
        </p:nvSpPr>
        <p:spPr>
          <a:xfrm>
            <a:off x="7942185" y="4841845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Dashboard UI</a:t>
            </a:r>
          </a:p>
        </p:txBody>
      </p:sp>
    </p:spTree>
    <p:extLst>
      <p:ext uri="{BB962C8B-B14F-4D97-AF65-F5344CB8AC3E}">
        <p14:creationId xmlns:p14="http://schemas.microsoft.com/office/powerpoint/2010/main" val="2279687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A8ABEE2-FA6D-0658-AF62-A88131AE4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8DA99BB1-6B32-6216-8379-6FD153689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EXPERIMENTAL RESULTS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0899DBDB-58E3-C3C1-8AC3-F853323552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32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D8C14E-2A39-C5BD-3E32-DE50B5EE8A1D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BE0CAB-8CB5-F7B7-BDAE-FD8BF7A43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54" y="2029351"/>
            <a:ext cx="5601744" cy="3200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E3311F-487A-F856-8A7C-286E443DA0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998" y="2029350"/>
            <a:ext cx="5586077" cy="3200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0EDA85-57C9-B39F-27AC-E5DC5B994D1E}"/>
              </a:ext>
            </a:extLst>
          </p:cNvPr>
          <p:cNvSpPr txBox="1"/>
          <p:nvPr/>
        </p:nvSpPr>
        <p:spPr>
          <a:xfrm>
            <a:off x="2544090" y="5382150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English Report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A8311D-BA81-EEF4-79F9-3441E84176FD}"/>
              </a:ext>
            </a:extLst>
          </p:cNvPr>
          <p:cNvSpPr txBox="1"/>
          <p:nvPr/>
        </p:nvSpPr>
        <p:spPr>
          <a:xfrm>
            <a:off x="8335284" y="5382150"/>
            <a:ext cx="1909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Malayalam Report</a:t>
            </a:r>
          </a:p>
        </p:txBody>
      </p:sp>
    </p:spTree>
    <p:extLst>
      <p:ext uri="{BB962C8B-B14F-4D97-AF65-F5344CB8AC3E}">
        <p14:creationId xmlns:p14="http://schemas.microsoft.com/office/powerpoint/2010/main" val="27074895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F2D8E21-7C88-B73D-6547-A9F3A5B3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9DA349E5-C630-0DEB-BE7E-1CEAC274F4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1020911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EXPERIMENTAL RESULTS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3A033619-E509-0089-4B3E-6B80F52F2E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33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038E66-A129-6DEA-A999-C4EAC06FBCA3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BEDE1-CEA3-8F08-8B35-3409D5AD3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575417"/>
            <a:ext cx="8229600" cy="40536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0B2227-264D-F552-C2E2-2FBCF4EDE7A2}"/>
              </a:ext>
            </a:extLst>
          </p:cNvPr>
          <p:cNvSpPr txBox="1"/>
          <p:nvPr/>
        </p:nvSpPr>
        <p:spPr>
          <a:xfrm>
            <a:off x="5096367" y="5629051"/>
            <a:ext cx="19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Comparison Report</a:t>
            </a:r>
          </a:p>
        </p:txBody>
      </p:sp>
    </p:spTree>
    <p:extLst>
      <p:ext uri="{BB962C8B-B14F-4D97-AF65-F5344CB8AC3E}">
        <p14:creationId xmlns:p14="http://schemas.microsoft.com/office/powerpoint/2010/main" val="24972525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F030D8A-9E5D-2550-893F-9E8A69B95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41BBFA2A-07D9-D149-FEC5-70825E2A4C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9147226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PUBLICATIONS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22FAE839-054F-163E-186F-6687321D3B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34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7B117B-3DE9-19AC-8161-9EF37DF472DE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D7CA2-8384-1671-2C07-EDCAF99B377F}"/>
              </a:ext>
            </a:extLst>
          </p:cNvPr>
          <p:cNvSpPr txBox="1"/>
          <p:nvPr/>
        </p:nvSpPr>
        <p:spPr>
          <a:xfrm>
            <a:off x="776749" y="2113935"/>
            <a:ext cx="10638502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Paper Title: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LucidCare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: An Explainable Multimodal AI System for Patient-Centric Clinical Report Interpretation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Paper ID: 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220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Conference: 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International Conference on Smart Communication and Sustainable Technologies (ICSCST 2026)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Organised at: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Saintgits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College of Engineering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Publication Status: Paper Accepted (Not yet published)</a:t>
            </a:r>
          </a:p>
        </p:txBody>
      </p:sp>
    </p:spTree>
    <p:extLst>
      <p:ext uri="{BB962C8B-B14F-4D97-AF65-F5344CB8AC3E}">
        <p14:creationId xmlns:p14="http://schemas.microsoft.com/office/powerpoint/2010/main" val="130552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D24810F4-237B-FDBC-B395-559825377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EB3277EB-B4BC-2235-B4A8-AD50E51E18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9147226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CONCLUSION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6A6BAA2B-0634-2620-D34B-8493D7630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13" y="1573443"/>
            <a:ext cx="1066176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Our project delivers an AI-driven solution that makes complex radiology reports clear, visual, and understandable for everyone. By combining YOLOv8 + DenseNet121 for image analysis and LLM for natural language explanations, we generate accurate, patient-friendly reports with explainable AI.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Producing reports in Malayalam ensures that medical information is accessible to local communities, helping people better understand their health and make informed decisions with confidence.</a:t>
            </a: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8AD44A69-40DB-12EB-4ECC-EA1264A7FA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35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0D4914-08F4-D58C-76B7-6BC6F7717A1C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7716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E5DE7AE-B25A-C685-105C-22BE0639E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E904B4F1-17FD-8F95-D2A0-6B4896ACD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9147226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FUTURE SCOPE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98D77598-9EA5-3B01-421B-3BC3592053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13" y="1573443"/>
            <a:ext cx="1066176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Data Security and Compliance</a:t>
            </a:r>
            <a:b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Implement secure data handling, role-based access, and audit logs aligned with healthcare privacy standards.</a:t>
            </a:r>
            <a:b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</a:br>
            <a:endParaRPr lang="en-US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Clinical Decision Support Expansion</a:t>
            </a:r>
            <a:b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Position </a:t>
            </a:r>
            <a:r>
              <a:rPr lang="en-US" altLang="en-US" sz="2400" dirty="0" err="1">
                <a:latin typeface="Times" panose="02020603050405020304" pitchFamily="18" charset="0"/>
                <a:cs typeface="Times" panose="02020603050405020304" pitchFamily="18" charset="0"/>
              </a:rPr>
              <a:t>LucidCare</a:t>
            </a: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as a decision-support and second-opinion tool rather than an autonomous diagnostic system.</a:t>
            </a:r>
            <a:b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</a:br>
            <a:endParaRPr lang="en-US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Risk Stratification and Case Prioritization</a:t>
            </a:r>
            <a:b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Extend the system to classify patients based on risk levels and urgency, helping clinicians prioritize critical cases instead of simply generating interpretations.</a:t>
            </a: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2C8E569B-F0F7-935F-CAF8-BC127480DB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36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2ABD59-ED6B-7DEF-2F4A-2830152487DD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45319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D24A334-8D6A-5A73-CB73-D43C65AE6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C5F431D7-45E8-1A9E-FBA5-8BB9BFD75F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605297"/>
            <a:ext cx="9147226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REFERENCES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2AC31850-7967-6D34-3669-F3D8F7EC73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13" y="1573443"/>
            <a:ext cx="1066176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IN" sz="1800" i="1" dirty="0"/>
              <a:t>[1] Park, Jiwoo, et al. ”Patient-</a:t>
            </a:r>
            <a:r>
              <a:rPr lang="en-IN" sz="1800" i="1" dirty="0" err="1"/>
              <a:t>centered</a:t>
            </a:r>
            <a:r>
              <a:rPr lang="en-IN" sz="1800" i="1" dirty="0"/>
              <a:t> radiology reports with generative artificial intelligence: adding value to radiology reporting.” Scientific Reports 14.1 (2024): 13218. </a:t>
            </a:r>
            <a:br>
              <a:rPr lang="en-IN" sz="1800" i="1" dirty="0"/>
            </a:br>
            <a:br>
              <a:rPr lang="en-IN" sz="1800" i="1" dirty="0"/>
            </a:br>
            <a:r>
              <a:rPr lang="en-IN" sz="1800" i="1" dirty="0"/>
              <a:t>[2] Naz, Zubaira, et al. ”An explainable AI-enabled framework for interpreting pulmonary diseases from chest radiographs.” Cancers 15.1 (2023): 314. </a:t>
            </a:r>
            <a:br>
              <a:rPr lang="en-IN" sz="1800" i="1" dirty="0"/>
            </a:br>
            <a:br>
              <a:rPr lang="en-IN" sz="1800" i="1" dirty="0"/>
            </a:br>
            <a:r>
              <a:rPr lang="en-IN" sz="1800" i="1" dirty="0"/>
              <a:t>[3] Ji, </a:t>
            </a:r>
            <a:r>
              <a:rPr lang="en-IN" sz="1800" i="1" dirty="0" err="1"/>
              <a:t>Yuelyu</a:t>
            </a:r>
            <a:r>
              <a:rPr lang="en-IN" sz="1800" i="1" dirty="0"/>
              <a:t>, et al. ”A vision-language model for generating textual descriptions of chest radiographs.” </a:t>
            </a:r>
            <a:r>
              <a:rPr lang="en-IN" sz="1800" i="1" dirty="0" err="1"/>
              <a:t>arXiv</a:t>
            </a:r>
            <a:r>
              <a:rPr lang="en-IN" sz="1800" i="1" dirty="0"/>
              <a:t> preprint arXiv:2405.13181 (2024).</a:t>
            </a:r>
            <a:br>
              <a:rPr lang="en-IN" sz="1800" i="1" dirty="0"/>
            </a:br>
            <a:br>
              <a:rPr lang="en-IN" sz="1800" i="1" dirty="0"/>
            </a:br>
            <a:r>
              <a:rPr lang="en-IN" sz="1800" i="1" dirty="0"/>
              <a:t>[4] </a:t>
            </a:r>
            <a:r>
              <a:rPr lang="en-IN" sz="1800" i="1" dirty="0" err="1"/>
              <a:t>Bluethgen</a:t>
            </a:r>
            <a:r>
              <a:rPr lang="en-IN" sz="1800" i="1" dirty="0"/>
              <a:t>, Christian, et al. ”A vision-language foundation model for the generation of radiology reports.” Nature Medicine 30.7 (2024): 2037-2046.</a:t>
            </a:r>
            <a:br>
              <a:rPr lang="en-IN" sz="1800" i="1" dirty="0"/>
            </a:br>
            <a:br>
              <a:rPr lang="en-IN" sz="1800" i="1" dirty="0"/>
            </a:br>
            <a:r>
              <a:rPr lang="en-IN" sz="1800" i="1" dirty="0"/>
              <a:t>[5] Hartsock, Iryna, and Ghulam Rasool. ”Vision-language models for medical report generation and visual question answering: a review.” Frontiers in Artificial Intelligence 7 (2024): 1430984.</a:t>
            </a: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3DAD623B-1141-021E-F857-90180D59EA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37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077645-A9D8-EDCA-62FF-CCF3E0764977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3917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ED6578C-B549-E217-414C-7F52D9EDE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2926D4FF-BCE8-1751-72F2-42A60B5F38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213" y="575801"/>
            <a:ext cx="9147226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REFERENCES</a:t>
            </a:r>
            <a:endParaRPr sz="38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55888FDD-7ABE-1396-BFAB-B15B8058CA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13" y="1361279"/>
            <a:ext cx="1066176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IN" sz="1800" i="1" dirty="0"/>
              <a:t>[6] </a:t>
            </a:r>
            <a:r>
              <a:rPr lang="en-IN" sz="1800" i="1" dirty="0" err="1"/>
              <a:t>Pahud</a:t>
            </a:r>
            <a:r>
              <a:rPr lang="en-IN" sz="1800" i="1" dirty="0"/>
              <a:t> de </a:t>
            </a:r>
            <a:r>
              <a:rPr lang="en-IN" sz="1800" i="1" dirty="0" err="1"/>
              <a:t>Mortanges</a:t>
            </a:r>
            <a:r>
              <a:rPr lang="en-IN" sz="1800" i="1" dirty="0"/>
              <a:t>, </a:t>
            </a:r>
            <a:r>
              <a:rPr lang="en-IN" sz="1800" i="1" dirty="0" err="1"/>
              <a:t>Aur´elie</a:t>
            </a:r>
            <a:r>
              <a:rPr lang="en-IN" sz="1800" i="1" dirty="0"/>
              <a:t>, et al. ”Orchestrating explainable artificial intelligence for multimodal and longitudinal data in medical imaging.” NPJ Digital Medicine 7.1 (2024): 195. </a:t>
            </a:r>
            <a:br>
              <a:rPr lang="en-IN" sz="1800" i="1" dirty="0"/>
            </a:br>
            <a:br>
              <a:rPr lang="en-IN" sz="1800" i="1" dirty="0"/>
            </a:br>
            <a:r>
              <a:rPr lang="en-IN" sz="1800" i="1" dirty="0"/>
              <a:t>[7] C¸ </a:t>
            </a:r>
            <a:r>
              <a:rPr lang="en-IN" sz="1800" i="1" dirty="0" err="1"/>
              <a:t>allı</a:t>
            </a:r>
            <a:r>
              <a:rPr lang="en-IN" sz="1800" i="1" dirty="0"/>
              <a:t>, Ezgi, et al. ”Explainable emphysema detection on chest radiographs with explicit radiologic signs.” IEEE Journal of Biomedical and Health Informatics 26.9 (2022): 4719-4730. </a:t>
            </a:r>
            <a:br>
              <a:rPr lang="en-IN" sz="1800" i="1" dirty="0"/>
            </a:br>
            <a:br>
              <a:rPr lang="en-IN" sz="1800" i="1" dirty="0"/>
            </a:br>
            <a:r>
              <a:rPr lang="en-IN" sz="1800" i="1" dirty="0"/>
              <a:t>[8] Anderson, Ian C., et al. ”Deep learning improves physician accuracy in chest </a:t>
            </a:r>
            <a:r>
              <a:rPr lang="en-IN" sz="1800" i="1" dirty="0" err="1"/>
              <a:t>chest</a:t>
            </a:r>
            <a:r>
              <a:rPr lang="en-IN" sz="1800" i="1" dirty="0"/>
              <a:t> X-Rays interpretation.” The New England Journal of Medicine 390.18 (2024): 1676-1685. </a:t>
            </a:r>
            <a:br>
              <a:rPr lang="en-IN" sz="1800" i="1" dirty="0"/>
            </a:br>
            <a:br>
              <a:rPr lang="en-IN" sz="1800" i="1" dirty="0"/>
            </a:br>
            <a:r>
              <a:rPr lang="en-IN" sz="1800" i="1" dirty="0"/>
              <a:t>[9] Sun, </a:t>
            </a:r>
            <a:r>
              <a:rPr lang="en-IN" sz="1800" i="1" dirty="0" err="1"/>
              <a:t>Zhaoyi</a:t>
            </a:r>
            <a:r>
              <a:rPr lang="en-IN" sz="1800" i="1" dirty="0"/>
              <a:t>, et al. ”A scoping review on multimodal deep learning in biomedical images and texts.” Journal of Biomedical Informatics 146 (2023): 104482. </a:t>
            </a:r>
            <a:br>
              <a:rPr lang="en-IN" sz="1800" i="1" dirty="0"/>
            </a:br>
            <a:br>
              <a:rPr lang="en-IN" sz="1800" i="1" dirty="0"/>
            </a:br>
            <a:r>
              <a:rPr lang="en-IN" sz="1800" i="1" dirty="0"/>
              <a:t>[10] Fi, </a:t>
            </a:r>
            <a:r>
              <a:rPr lang="en-IN" sz="1800" i="1" dirty="0" err="1"/>
              <a:t>Yuelyu</a:t>
            </a:r>
            <a:r>
              <a:rPr lang="en-IN" sz="1800" i="1" dirty="0"/>
              <a:t>, et al. ”RAG-RLRC-</a:t>
            </a:r>
            <a:r>
              <a:rPr lang="en-IN" sz="1800" i="1" dirty="0" err="1"/>
              <a:t>LaySum</a:t>
            </a:r>
            <a:r>
              <a:rPr lang="en-IN" sz="1800" i="1" dirty="0"/>
              <a:t> at </a:t>
            </a:r>
            <a:r>
              <a:rPr lang="en-IN" sz="1800" i="1" dirty="0" err="1"/>
              <a:t>BioLaySumm</a:t>
            </a:r>
            <a:r>
              <a:rPr lang="en-IN" sz="1800" i="1" dirty="0"/>
              <a:t>: Integrating Retrieval-Augmented Generation and Readability Control for Layman Summarization of Biomedical Texts.” Proceedings of the 2024 Workshop on Biomedical Natural Language Processing and </a:t>
            </a:r>
            <a:r>
              <a:rPr lang="en-IN" sz="1800" i="1" dirty="0" err="1"/>
              <a:t>BioNLP</a:t>
            </a:r>
            <a:r>
              <a:rPr lang="en-IN" sz="1800" i="1" dirty="0"/>
              <a:t> Shared Tasks (2024): 810-817. </a:t>
            </a: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C58E2483-4452-AF2E-FEF5-6165F0B17A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38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CDBF8E-FC2F-553C-2E9B-CA524DA7089A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46403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F76BEBD-D81C-132F-78C8-7B36200D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7FE97699-0E98-E555-4E98-3CB6364A77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66595" y="2054081"/>
            <a:ext cx="6458809" cy="137491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IN" sz="8000" b="1" dirty="0">
                <a:solidFill>
                  <a:srgbClr val="C00000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THANK YOU</a:t>
            </a:r>
            <a:endParaRPr sz="8000" b="1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05F381A8-37B1-5B65-F627-6C978B2290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75177" y="633318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39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353539-B6CF-2DDE-1EB1-87A0AEFA7F5C}"/>
              </a:ext>
            </a:extLst>
          </p:cNvPr>
          <p:cNvSpPr txBox="1"/>
          <p:nvPr/>
        </p:nvSpPr>
        <p:spPr>
          <a:xfrm>
            <a:off x="557213" y="6333189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LucidCare</a:t>
            </a:r>
            <a:r>
              <a:rPr lang="en-US" dirty="0"/>
              <a:t>, AI&amp;DS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3555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2820</Words>
  <Application>Microsoft Office PowerPoint</Application>
  <PresentationFormat>Widescreen</PresentationFormat>
  <Paragraphs>308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Aptos</vt:lpstr>
      <vt:lpstr>Aptos Display</vt:lpstr>
      <vt:lpstr>Arial</vt:lpstr>
      <vt:lpstr>Proxima Nova</vt:lpstr>
      <vt:lpstr>Times</vt:lpstr>
      <vt:lpstr>Times New Roman</vt:lpstr>
      <vt:lpstr>Office Theme</vt:lpstr>
      <vt:lpstr>LUCIDCARE: AN ENSEMBLE PATIENT CENTRIC CLINICAL REPORT INTERPRETATION USING EXPLAINABLE AI</vt:lpstr>
      <vt:lpstr>PROBLEM STATEMENT</vt:lpstr>
      <vt:lpstr>OBJECTIVES</vt:lpstr>
      <vt:lpstr>EXISTING SYSTEM</vt:lpstr>
      <vt:lpstr>DISADVANTAGES OF EXISTING SYSTEM</vt:lpstr>
      <vt:lpstr>LITERATURE SURVEY</vt:lpstr>
      <vt:lpstr>LITERATURE SURVEY</vt:lpstr>
      <vt:lpstr>INFERENCES</vt:lpstr>
      <vt:lpstr>PROPOSED SYSTEM</vt:lpstr>
      <vt:lpstr>PROPOSED SYSTEM</vt:lpstr>
      <vt:lpstr>ADVANTAGES OF PROPOSED SYSTEM</vt:lpstr>
      <vt:lpstr>ADVANTAGES OF PROPOSED SYSTEM</vt:lpstr>
      <vt:lpstr>SYSTEM ARCHITECTURE</vt:lpstr>
      <vt:lpstr>LEVEL 0 DFD</vt:lpstr>
      <vt:lpstr>LEVEL 1 DFD</vt:lpstr>
      <vt:lpstr>LEVEL 2 DFD</vt:lpstr>
      <vt:lpstr>MODULES</vt:lpstr>
      <vt:lpstr>MODULES</vt:lpstr>
      <vt:lpstr>MODULES</vt:lpstr>
      <vt:lpstr>MODULES</vt:lpstr>
      <vt:lpstr>NOVELTY</vt:lpstr>
      <vt:lpstr>DATA DESIGN</vt:lpstr>
      <vt:lpstr>ALGORITHM</vt:lpstr>
      <vt:lpstr>ALGORITHM</vt:lpstr>
      <vt:lpstr>SOFTWARE AND HARDWARE REQUIREMENTS</vt:lpstr>
      <vt:lpstr>COMPARITIVE STUDY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  <vt:lpstr>PUBLICATIONS</vt:lpstr>
      <vt:lpstr>CONCLUSION</vt:lpstr>
      <vt:lpstr>FUTURE SCOPE</vt:lpstr>
      <vt:lpstr>REFERENCES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Pinheiro</dc:creator>
  <cp:lastModifiedBy>Alina Pinheiro</cp:lastModifiedBy>
  <cp:revision>6</cp:revision>
  <dcterms:created xsi:type="dcterms:W3CDTF">2026-03-04T11:11:39Z</dcterms:created>
  <dcterms:modified xsi:type="dcterms:W3CDTF">2026-05-04T19:12:07Z</dcterms:modified>
</cp:coreProperties>
</file>